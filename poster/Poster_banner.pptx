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32404050" cy="43205400"/>
  <p:notesSz cx="6858000" cy="9144000"/>
  <p:defaultTextStyle>
    <a:defPPr>
      <a:defRPr lang="pt-BR"/>
    </a:defPPr>
    <a:lvl1pPr marL="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759" autoAdjust="0"/>
    <p:restoredTop sz="95287" autoAdjust="0"/>
  </p:normalViewPr>
  <p:slideViewPr>
    <p:cSldViewPr>
      <p:cViewPr>
        <p:scale>
          <a:sx n="33" d="100"/>
          <a:sy n="33" d="100"/>
        </p:scale>
        <p:origin x="1314" y="-2898"/>
      </p:cViewPr>
      <p:guideLst>
        <p:guide orient="horz" pos="13608"/>
        <p:guide pos="10206"/>
      </p:guideLst>
    </p:cSldViewPr>
  </p:slideViewPr>
  <p:outlineViewPr>
    <p:cViewPr>
      <p:scale>
        <a:sx n="33" d="100"/>
        <a:sy n="33" d="100"/>
      </p:scale>
      <p:origin x="0" y="115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D9-6F99-4774-8F18-D88D64460132}" type="datetimeFigureOut">
              <a:rPr lang="pt-BR" smtClean="0"/>
              <a:pPr/>
              <a:t>10/06/2026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8D9-6F99-4774-8F18-D88D64460132}" type="datetimeFigureOut">
              <a:rPr lang="pt-BR" smtClean="0"/>
              <a:pPr/>
              <a:t>10/06/2026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20540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203" indent="-1620203" algn="l" defTabSz="4320540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10439" indent="-1350169" algn="l" defTabSz="4320540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45" indent="-1080135" algn="l" defTabSz="432054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15" indent="-1080135" algn="l" defTabSz="4320540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-288332"/>
            <a:ext cx="32412863" cy="432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61806" y="4176148"/>
            <a:ext cx="30749932" cy="5790796"/>
          </a:xfrm>
        </p:spPr>
        <p:txBody>
          <a:bodyPr>
            <a:normAutofit/>
          </a:bodyPr>
          <a:lstStyle/>
          <a:p>
            <a:pPr hangingPunct="0"/>
            <a:r>
              <a:rPr lang="pt-BR" sz="5400" b="1" dirty="0"/>
              <a:t>TITULO DO TRABALHO</a:t>
            </a:r>
            <a:br>
              <a:rPr lang="pt-BR" sz="5400" b="1" dirty="0"/>
            </a:br>
            <a:br>
              <a:rPr lang="pt-BR" sz="5400" dirty="0"/>
            </a:br>
            <a:r>
              <a:rPr lang="pt-BR" sz="4400" b="1" dirty="0"/>
              <a:t>Hanspeter Dietiker, Gabriel Silva Magalhães</a:t>
            </a:r>
            <a:br>
              <a:rPr lang="pt-BR" sz="4400" b="1" dirty="0"/>
            </a:br>
            <a:r>
              <a:rPr lang="pt-BR" sz="4400" dirty="0"/>
              <a:t>Universidade Salvador – Salvador – BA – Brasil</a:t>
            </a:r>
            <a:br>
              <a:rPr lang="pt-BR" sz="9600" dirty="0"/>
            </a:br>
            <a:endParaRPr lang="pt-B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96254" y="11970852"/>
            <a:ext cx="14785564" cy="24537504"/>
          </a:xfr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INTRODUÇÃO</a:t>
            </a:r>
            <a:endParaRPr lang="pt-BR" sz="75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O volume de pacientes em hospitais gera desafios na gestão de fluxos e triagem. O desconhecimento do paciente sobre o setor adequado resulta em uma série de problemas: Filas e Atrasos: Sobrecarga administrativa do sistema de saúde. Risco Clínico: Casos graves misturados a casos leves na sala de espera. Ineficiência: Erros de encaminhamento entre os diferentes setores. O </a:t>
            </a:r>
            <a:r>
              <a:rPr lang="pt-BR" sz="3200" dirty="0" err="1">
                <a:solidFill>
                  <a:schemeClr val="tx1"/>
                </a:solidFill>
              </a:rPr>
              <a:t>Medic</a:t>
            </a:r>
            <a:r>
              <a:rPr lang="pt-BR" sz="3200" dirty="0">
                <a:solidFill>
                  <a:schemeClr val="tx1"/>
                </a:solidFill>
              </a:rPr>
              <a:t> </a:t>
            </a:r>
            <a:r>
              <a:rPr lang="pt-BR" sz="3200" dirty="0" err="1">
                <a:solidFill>
                  <a:schemeClr val="tx1"/>
                </a:solidFill>
              </a:rPr>
              <a:t>Assist</a:t>
            </a:r>
            <a:r>
              <a:rPr lang="pt-BR" sz="3200" dirty="0">
                <a:solidFill>
                  <a:schemeClr val="tx1"/>
                </a:solidFill>
              </a:rPr>
              <a:t> AI propõe um </a:t>
            </a:r>
            <a:r>
              <a:rPr lang="pt-BR" sz="3200" dirty="0" err="1">
                <a:solidFill>
                  <a:schemeClr val="tx1"/>
                </a:solidFill>
              </a:rPr>
              <a:t>chatbot</a:t>
            </a:r>
            <a:r>
              <a:rPr lang="pt-BR" sz="3200" dirty="0">
                <a:solidFill>
                  <a:schemeClr val="tx1"/>
                </a:solidFill>
              </a:rPr>
              <a:t> automatizado que utiliza regras de Inteligência Artificial para organizar essa entrada de forma ágil e segura.</a:t>
            </a: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OBJETIVO</a:t>
            </a:r>
            <a:endParaRPr lang="pt-BR" sz="7500" b="1" dirty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Desenvolver e validar um sistema de triagem inteligente capaz de automatizar o encaminhamento para 9 áreas e 3 níveis de urgência. </a:t>
            </a:r>
          </a:p>
          <a:p>
            <a:pPr algn="l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</a:rPr>
              <a:t>Principais Metas (Acadêmicas e Funcionais): </a:t>
            </a:r>
          </a:p>
          <a:p>
            <a:pPr marL="457200" indent="-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</a:rPr>
              <a:t>Classificação precisa de especialidades médicas. </a:t>
            </a:r>
          </a:p>
          <a:p>
            <a:pPr marL="457200" indent="-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</a:rPr>
              <a:t>Identificação de prioridade (Baixa a Emergência). </a:t>
            </a:r>
          </a:p>
          <a:p>
            <a:pPr marL="457200" indent="-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</a:rPr>
              <a:t>Garantia de segurança com protocolos clínicos definidos. </a:t>
            </a:r>
          </a:p>
          <a:p>
            <a:pPr marL="457200" indent="-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</a:rPr>
              <a:t>Redução da carga cognitiva dos </a:t>
            </a:r>
            <a:r>
              <a:rPr lang="pt-BR" sz="3200" dirty="0" err="1">
                <a:solidFill>
                  <a:schemeClr val="tx1"/>
                </a:solidFill>
              </a:rPr>
              <a:t>triadores</a:t>
            </a:r>
            <a:r>
              <a:rPr lang="pt-BR" sz="3200" dirty="0">
                <a:solidFill>
                  <a:schemeClr val="tx1"/>
                </a:solidFill>
              </a:rPr>
              <a:t> humanos.</a:t>
            </a:r>
            <a:endParaRPr lang="pt-BR" sz="75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MÉTODOS</a:t>
            </a:r>
            <a:endParaRPr lang="pt-BR" sz="75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Foi feita a utilização de dados estruturados para treinamento supervisionado. Componente Detalhe Técnico:</a:t>
            </a: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Pré-processamento: Aplicação de </a:t>
            </a:r>
            <a:r>
              <a:rPr lang="pt-BR" sz="3200" dirty="0" err="1">
                <a:solidFill>
                  <a:schemeClr val="tx1"/>
                </a:solidFill>
              </a:rPr>
              <a:t>LabelEncoder</a:t>
            </a:r>
            <a:r>
              <a:rPr lang="pt-BR" sz="3200" dirty="0">
                <a:solidFill>
                  <a:schemeClr val="tx1"/>
                </a:solidFill>
              </a:rPr>
              <a:t> para variáveis categóricas (Gênero e Condição) e limpeza de ruídos no </a:t>
            </a:r>
            <a:r>
              <a:rPr lang="pt-BR" sz="3200" dirty="0" err="1">
                <a:solidFill>
                  <a:schemeClr val="tx1"/>
                </a:solidFill>
              </a:rPr>
              <a:t>dataset</a:t>
            </a:r>
            <a:r>
              <a:rPr lang="pt-BR" sz="3200" dirty="0">
                <a:solidFill>
                  <a:schemeClr val="tx1"/>
                </a:solidFill>
              </a:rPr>
              <a:t> original para garantir a consistência das regras clínicas aplicadas na rotulação.</a:t>
            </a: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Algoritmo de </a:t>
            </a:r>
            <a:r>
              <a:rPr lang="pt-BR" sz="3200" dirty="0" err="1">
                <a:solidFill>
                  <a:schemeClr val="tx1"/>
                </a:solidFill>
              </a:rPr>
              <a:t>Machine</a:t>
            </a:r>
            <a:r>
              <a:rPr lang="pt-BR" sz="3200" dirty="0">
                <a:solidFill>
                  <a:schemeClr val="tx1"/>
                </a:solidFill>
              </a:rPr>
              <a:t> Learning A </a:t>
            </a:r>
            <a:r>
              <a:rPr lang="pt-BR" sz="3200" b="1" dirty="0">
                <a:solidFill>
                  <a:schemeClr val="tx1"/>
                </a:solidFill>
              </a:rPr>
              <a:t>Árvore de Decisão (</a:t>
            </a:r>
            <a:r>
              <a:rPr lang="pt-BR" sz="3200" b="1" dirty="0" err="1">
                <a:solidFill>
                  <a:schemeClr val="tx1"/>
                </a:solidFill>
              </a:rPr>
              <a:t>DecisionTreeClassifier</a:t>
            </a:r>
            <a:r>
              <a:rPr lang="pt-BR" sz="3200" dirty="0">
                <a:solidFill>
                  <a:schemeClr val="tx1"/>
                </a:solidFill>
              </a:rPr>
              <a:t>) foi a escolha estratégica devido à sua </a:t>
            </a:r>
            <a:r>
              <a:rPr lang="pt-BR" sz="3200" dirty="0" err="1">
                <a:solidFill>
                  <a:schemeClr val="tx1"/>
                </a:solidFill>
              </a:rPr>
              <a:t>interpretabilidade</a:t>
            </a:r>
            <a:r>
              <a:rPr lang="pt-BR" sz="3200" dirty="0">
                <a:solidFill>
                  <a:schemeClr val="tx1"/>
                </a:solidFill>
              </a:rPr>
              <a:t> clínica. </a:t>
            </a:r>
          </a:p>
          <a:p>
            <a:pPr marL="457200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</a:rPr>
              <a:t>Transparência: Caminhos de decisão auditáveis. </a:t>
            </a:r>
          </a:p>
          <a:p>
            <a:pPr marL="457200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</a:rPr>
              <a:t>Inferência Rápida: Respostas imediatas no terminal. </a:t>
            </a:r>
          </a:p>
          <a:p>
            <a:pPr marL="457200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</a:rPr>
              <a:t>Estrutura: Lógica IF-THEN, similar aos protocolos médicos reais de triagem. </a:t>
            </a: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</a:rPr>
              <a:t>Nota Técnica: Foram gerados artefatos .</a:t>
            </a:r>
            <a:r>
              <a:rPr lang="pt-BR" sz="2800" dirty="0" err="1">
                <a:solidFill>
                  <a:schemeClr val="tx1"/>
                </a:solidFill>
              </a:rPr>
              <a:t>joblib</a:t>
            </a:r>
            <a:r>
              <a:rPr lang="pt-BR" sz="2800" dirty="0">
                <a:solidFill>
                  <a:schemeClr val="tx1"/>
                </a:solidFill>
              </a:rPr>
              <a:t> independentes para os dois alvos de predição.</a:t>
            </a: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RESULTADOS</a:t>
            </a:r>
            <a:endParaRPr lang="pt-BR" sz="75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b="0" i="0" dirty="0">
                <a:solidFill>
                  <a:schemeClr val="tx1"/>
                </a:solidFill>
                <a:effectLst/>
                <a:latin typeface="+mj-lt"/>
              </a:rPr>
              <a:t>Resultados obtidos nos conjuntos de teste avaliando 197 registros:</a:t>
            </a: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  <a:latin typeface="+mj-lt"/>
            </a:endParaRPr>
          </a:p>
          <a:p>
            <a:pPr algn="just">
              <a:spcBef>
                <a:spcPts val="0"/>
              </a:spcBef>
            </a:pPr>
            <a:endParaRPr lang="pt-BR" sz="9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Subtítulo 2"/>
          <p:cNvSpPr txBox="1">
            <a:spLocks/>
          </p:cNvSpPr>
          <p:nvPr/>
        </p:nvSpPr>
        <p:spPr>
          <a:xfrm>
            <a:off x="16035133" y="12176232"/>
            <a:ext cx="15576604" cy="24332124"/>
          </a:xfrm>
          <a:prstGeom prst="rect">
            <a:avLst/>
          </a:prstGeom>
          <a:noFill/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FLUXO DO CHATBOT</a:t>
            </a:r>
          </a:p>
          <a:p>
            <a:r>
              <a:rPr lang="pt-BR" sz="3200" b="0" i="0" dirty="0">
                <a:effectLst/>
              </a:rPr>
              <a:t>O processo de atendimento no terminal ocorre nas seguintes etapas:</a:t>
            </a:r>
          </a:p>
          <a:p>
            <a:endParaRPr lang="pt-BR" sz="3200" b="0" i="0" dirty="0"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</a:rPr>
              <a:t>Dados Básicos: Captura de idade e gênero para contextualizar o perfil do paciente.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</a:rPr>
              <a:t>Sintomatologia: Mapeamento de condições principais e sinais vitais (Febre, Dor, Respiração).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</a:rPr>
              <a:t>Segurança: Elevação automática para EMERGÊNCIA em casos de inconsciência ou dispneia.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b="0" i="0" dirty="0">
              <a:effectLst/>
            </a:endParaRPr>
          </a:p>
          <a:p>
            <a:r>
              <a:rPr lang="pt-BR" sz="3200" b="0" i="0" dirty="0">
                <a:effectLst/>
              </a:rPr>
              <a:t>Exemplo de Interação: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</a:rPr>
              <a:t>Entrada: 'Dor no Peito'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</a:rPr>
              <a:t>Saída: Área: Cardiologia | Urgência: Emergência</a:t>
            </a:r>
          </a:p>
          <a:p>
            <a:endParaRPr lang="pt-BR" sz="8000" b="1" dirty="0">
              <a:solidFill>
                <a:schemeClr val="tx1"/>
              </a:solidFill>
              <a:latin typeface="+mj-lt"/>
            </a:endParaRPr>
          </a:p>
          <a:p>
            <a:endParaRPr lang="pt-BR" sz="8000" b="1" dirty="0">
              <a:latin typeface="+mj-lt"/>
            </a:endParaRPr>
          </a:p>
          <a:p>
            <a:endParaRPr lang="pt-BR" sz="8000" b="1" dirty="0">
              <a:latin typeface="+mj-lt"/>
            </a:endParaRPr>
          </a:p>
          <a:p>
            <a:endParaRPr lang="pt-BR" sz="8000" b="1" dirty="0">
              <a:solidFill>
                <a:schemeClr val="tx1"/>
              </a:solidFill>
              <a:latin typeface="+mj-lt"/>
            </a:endParaRPr>
          </a:p>
          <a:p>
            <a:endParaRPr lang="pt-BR" sz="8000" b="1" dirty="0">
              <a:latin typeface="+mj-lt"/>
            </a:endParaRPr>
          </a:p>
          <a:p>
            <a:endParaRPr lang="pt-BR" sz="8000" b="1" dirty="0">
              <a:solidFill>
                <a:schemeClr val="tx1"/>
              </a:solidFill>
              <a:latin typeface="+mj-lt"/>
            </a:endParaRPr>
          </a:p>
          <a:p>
            <a:endParaRPr lang="pt-BR" sz="8000" b="1" dirty="0">
              <a:solidFill>
                <a:schemeClr val="tx1"/>
              </a:solidFill>
              <a:latin typeface="+mj-lt"/>
            </a:endParaRPr>
          </a:p>
          <a:p>
            <a:r>
              <a:rPr lang="pt-BR" sz="8000" b="1" dirty="0">
                <a:solidFill>
                  <a:schemeClr val="tx1"/>
                </a:solidFill>
                <a:latin typeface="+mj-lt"/>
              </a:rPr>
              <a:t>CONCLUSÃO</a:t>
            </a:r>
          </a:p>
          <a:p>
            <a:pPr algn="l"/>
            <a:r>
              <a:rPr lang="pt-BR" sz="3200" b="0" i="0" dirty="0">
                <a:effectLst/>
              </a:rPr>
              <a:t>O </a:t>
            </a:r>
            <a:r>
              <a:rPr lang="pt-BR" sz="3200" b="0" i="0" dirty="0" err="1">
                <a:effectLst/>
              </a:rPr>
              <a:t>Medic</a:t>
            </a:r>
            <a:r>
              <a:rPr lang="pt-BR" sz="3200" b="0" i="0" dirty="0">
                <a:effectLst/>
              </a:rPr>
              <a:t> </a:t>
            </a:r>
            <a:r>
              <a:rPr lang="pt-BR" sz="3200" b="0" i="0" dirty="0" err="1">
                <a:effectLst/>
              </a:rPr>
              <a:t>Assist</a:t>
            </a:r>
            <a:r>
              <a:rPr lang="pt-BR" sz="3200" b="0" i="0" dirty="0">
                <a:effectLst/>
              </a:rPr>
              <a:t> AI demonstrou ser uma prova de conceito robusta e segura. O sistema une a agilidade do </a:t>
            </a:r>
            <a:r>
              <a:rPr lang="pt-BR" sz="3200" b="0" i="0" dirty="0" err="1">
                <a:effectLst/>
              </a:rPr>
              <a:t>Machine</a:t>
            </a:r>
            <a:r>
              <a:rPr lang="pt-BR" sz="3200" b="0" i="0" dirty="0">
                <a:effectLst/>
              </a:rPr>
              <a:t> Learning com a segurança de protocolos manuais, garantindo que nenhum caso grave seja negligenciado por erros de predição estatística.</a:t>
            </a:r>
          </a:p>
          <a:p>
            <a:pPr algn="l"/>
            <a:endParaRPr lang="pt-BR" sz="3200" b="0" i="0" dirty="0">
              <a:effectLst/>
            </a:endParaRPr>
          </a:p>
          <a:p>
            <a:pPr algn="l"/>
            <a:r>
              <a:rPr lang="pt-BR" sz="3200" b="1" i="0" dirty="0">
                <a:effectLst/>
              </a:rPr>
              <a:t>Destaques: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b="0" i="0" dirty="0"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</a:rPr>
              <a:t>Sistema 100% </a:t>
            </a:r>
            <a:r>
              <a:rPr lang="pt-BR" sz="3200" b="0" i="0" dirty="0" err="1">
                <a:effectLst/>
              </a:rPr>
              <a:t>auditável</a:t>
            </a:r>
            <a:r>
              <a:rPr lang="pt-BR" sz="3200" b="0" i="0" dirty="0">
                <a:effectLst/>
              </a:rPr>
              <a:t> e interpretável.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</a:rPr>
              <a:t>Arquitetura modular e amplamente testada (103 testes).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</a:rPr>
              <a:t>UI eficiente para uso administrativo rápido.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</a:rPr>
              <a:t>Limitações e Futuro: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</a:rPr>
              <a:t>Dependência de </a:t>
            </a:r>
            <a:r>
              <a:rPr lang="pt-BR" sz="3200" b="0" i="0" dirty="0" err="1">
                <a:effectLst/>
              </a:rPr>
              <a:t>labels</a:t>
            </a:r>
            <a:r>
              <a:rPr lang="pt-BR" sz="3200" b="0" i="0" dirty="0">
                <a:effectLst/>
              </a:rPr>
              <a:t> estruturados no </a:t>
            </a:r>
            <a:r>
              <a:rPr lang="pt-BR" sz="3200" b="0" i="0" dirty="0" err="1">
                <a:effectLst/>
              </a:rPr>
              <a:t>dataset</a:t>
            </a:r>
            <a:r>
              <a:rPr lang="pt-BR" sz="3200" b="0" i="0" dirty="0">
                <a:effectLst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</a:rPr>
              <a:t>Expansão futura para NLU (Processamento de Linguagem Natural) mais complexo.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</a:rPr>
              <a:t>Integração com sensores de sinais vitais </a:t>
            </a:r>
            <a:r>
              <a:rPr lang="pt-BR" sz="3200" b="0" i="0" dirty="0" err="1">
                <a:effectLst/>
              </a:rPr>
              <a:t>IoT</a:t>
            </a:r>
            <a:r>
              <a:rPr lang="pt-BR" sz="3200" b="0" i="0" dirty="0">
                <a:effectLst/>
              </a:rPr>
              <a:t>.</a:t>
            </a:r>
          </a:p>
          <a:p>
            <a:endParaRPr lang="pt-BR" sz="8000" b="1" dirty="0">
              <a:solidFill>
                <a:schemeClr val="tx1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b="0" i="0" dirty="0">
              <a:effectLst/>
            </a:endParaRPr>
          </a:p>
          <a:p>
            <a:pPr algn="just">
              <a:spcBef>
                <a:spcPts val="0"/>
              </a:spcBef>
            </a:pPr>
            <a:endParaRPr lang="pt-BR" sz="16600" b="1" dirty="0">
              <a:latin typeface="+mj-lt"/>
            </a:endParaRPr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/>
            <a:endParaRPr lang="pt-BR" sz="9600" b="1" dirty="0"/>
          </a:p>
          <a:p>
            <a:pPr algn="just"/>
            <a:endParaRPr lang="pt-BR" sz="9600" b="1" dirty="0"/>
          </a:p>
          <a:p>
            <a:endParaRPr lang="pt-BR" sz="28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7" name="Subtítulo 2"/>
          <p:cNvSpPr txBox="1">
            <a:spLocks/>
          </p:cNvSpPr>
          <p:nvPr/>
        </p:nvSpPr>
        <p:spPr>
          <a:xfrm>
            <a:off x="861805" y="38375257"/>
            <a:ext cx="30749932" cy="4372943"/>
          </a:xfrm>
          <a:prstGeom prst="rect">
            <a:avLst/>
          </a:prstGeo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>
            <a:lvl1pPr marL="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5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6027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2054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48081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64108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80135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6162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12189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28216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endParaRPr lang="pt-BR" sz="66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REFERÊNCIAS BIBLIOGRÁFICAS</a:t>
            </a:r>
          </a:p>
          <a:p>
            <a:pPr marL="457200" indent="-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b="0" i="0" dirty="0" err="1">
                <a:solidFill>
                  <a:schemeClr val="tx1"/>
                </a:solidFill>
                <a:effectLst/>
              </a:rPr>
              <a:t>Kaggle</a:t>
            </a:r>
            <a:r>
              <a:rPr lang="pt-BR" sz="3200" b="0" i="0" dirty="0">
                <a:solidFill>
                  <a:schemeClr val="tx1"/>
                </a:solidFill>
                <a:effectLst/>
              </a:rPr>
              <a:t>. </a:t>
            </a:r>
            <a:r>
              <a:rPr lang="pt-BR" sz="3200" b="0" i="1" dirty="0">
                <a:solidFill>
                  <a:schemeClr val="tx1"/>
                </a:solidFill>
                <a:effectLst/>
              </a:rPr>
              <a:t>Hospital </a:t>
            </a:r>
            <a:r>
              <a:rPr lang="pt-BR" sz="3200" b="0" i="1" dirty="0" err="1">
                <a:solidFill>
                  <a:schemeClr val="tx1"/>
                </a:solidFill>
                <a:effectLst/>
              </a:rPr>
              <a:t>Patient</a:t>
            </a:r>
            <a:r>
              <a:rPr lang="pt-BR" sz="3200" b="0" i="1" dirty="0">
                <a:solidFill>
                  <a:schemeClr val="tx1"/>
                </a:solidFill>
                <a:effectLst/>
              </a:rPr>
              <a:t> Records </a:t>
            </a:r>
            <a:r>
              <a:rPr lang="pt-BR" sz="3200" b="0" i="1" dirty="0" err="1">
                <a:solidFill>
                  <a:schemeClr val="tx1"/>
                </a:solidFill>
                <a:effectLst/>
              </a:rPr>
              <a:t>Dataset</a:t>
            </a:r>
            <a:r>
              <a:rPr lang="pt-BR" sz="3200" b="0" i="0" dirty="0">
                <a:solidFill>
                  <a:schemeClr val="tx1"/>
                </a:solidFill>
                <a:effectLst/>
              </a:rPr>
              <a:t>. Disponível em: kaggle.com. Acesso em: Mai. 2026</a:t>
            </a:r>
          </a:p>
          <a:p>
            <a:pPr marL="457200" indent="-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chemeClr val="tx1"/>
                </a:solidFill>
                <a:effectLst/>
              </a:rPr>
              <a:t>PEDREGOSA, F. et al. </a:t>
            </a:r>
            <a:r>
              <a:rPr lang="en-US" sz="3200" b="0" i="1" dirty="0">
                <a:solidFill>
                  <a:schemeClr val="tx1"/>
                </a:solidFill>
                <a:effectLst/>
              </a:rPr>
              <a:t>Scikit-learn: Machine Learning in Python</a:t>
            </a:r>
            <a:r>
              <a:rPr lang="en-US" sz="3200" b="0" i="0" dirty="0">
                <a:solidFill>
                  <a:schemeClr val="tx1"/>
                </a:solidFill>
                <a:effectLst/>
              </a:rPr>
              <a:t>. Journal of Machine Learning Research, 2011</a:t>
            </a:r>
            <a:r>
              <a:rPr lang="en-US" sz="3200" b="0" i="0" dirty="0">
                <a:solidFill>
                  <a:schemeClr val="tx1"/>
                </a:solidFill>
                <a:effectLst/>
                <a:latin typeface="+mj-lt"/>
              </a:rPr>
              <a:t>.</a:t>
            </a:r>
            <a:endParaRPr lang="pt-BR" sz="3200" b="0" i="0" dirty="0">
              <a:solidFill>
                <a:schemeClr val="tx1"/>
              </a:solidFill>
              <a:effectLst/>
              <a:latin typeface="+mj-lt"/>
            </a:endParaRPr>
          </a:p>
          <a:p>
            <a:pPr marL="457200" indent="-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chemeClr val="tx1"/>
                </a:solidFill>
                <a:effectLst/>
              </a:rPr>
              <a:t>WILLISON, S. </a:t>
            </a:r>
            <a:r>
              <a:rPr lang="en-US" sz="3200" b="0" i="1" dirty="0">
                <a:solidFill>
                  <a:schemeClr val="tx1"/>
                </a:solidFill>
                <a:effectLst/>
              </a:rPr>
              <a:t>Rich: Rich text and beautiful formatting in the terminal</a:t>
            </a:r>
            <a:r>
              <a:rPr lang="en-US" sz="3200" b="0" i="0" dirty="0">
                <a:solidFill>
                  <a:schemeClr val="tx1"/>
                </a:solidFill>
                <a:effectLst/>
              </a:rPr>
              <a:t>. Python Package Index, 2024.</a:t>
            </a:r>
          </a:p>
          <a:p>
            <a:pPr marL="457200" indent="-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b="0" i="0" dirty="0">
                <a:solidFill>
                  <a:schemeClr val="tx1"/>
                </a:solidFill>
                <a:effectLst/>
              </a:rPr>
              <a:t>RUSSEL, S.; NORVIG, P. </a:t>
            </a:r>
            <a:r>
              <a:rPr lang="pt-BR" sz="3200" b="0" i="1" dirty="0">
                <a:solidFill>
                  <a:schemeClr val="tx1"/>
                </a:solidFill>
                <a:effectLst/>
              </a:rPr>
              <a:t>Inteligência Artificial: Uma Abordagem Moderna</a:t>
            </a:r>
            <a:r>
              <a:rPr lang="pt-BR" sz="3200" b="0" i="0" dirty="0">
                <a:solidFill>
                  <a:schemeClr val="tx1"/>
                </a:solidFill>
                <a:effectLst/>
              </a:rPr>
              <a:t>. 3ª Ed. Elsevier, 2013.</a:t>
            </a:r>
          </a:p>
          <a:p>
            <a:br>
              <a:rPr lang="pt-BR" sz="800" dirty="0"/>
            </a:br>
            <a:endParaRPr lang="pt-BR" sz="2800" b="0" i="0" dirty="0">
              <a:solidFill>
                <a:schemeClr val="tx1"/>
              </a:solidFill>
              <a:effectLst/>
            </a:endParaRPr>
          </a:p>
          <a:p>
            <a:br>
              <a:rPr lang="pt-BR" sz="3200" dirty="0">
                <a:solidFill>
                  <a:schemeClr val="tx1"/>
                </a:solidFill>
              </a:rPr>
            </a:br>
            <a:endParaRPr lang="pt-BR" sz="115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tx1"/>
              </a:solidFill>
            </a:endParaRP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DE0425B4-4BBE-4119-F4E3-54908A69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1884" y="692779"/>
            <a:ext cx="7724775" cy="35530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012876-1C84-8DE5-9B13-5905E424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34" y="1299271"/>
            <a:ext cx="10612836" cy="2368923"/>
          </a:xfrm>
          <a:prstGeom prst="rect">
            <a:avLst/>
          </a:prstGeom>
        </p:spPr>
      </p:pic>
      <p:pic>
        <p:nvPicPr>
          <p:cNvPr id="10" name="Imagem 9" descr="Tela de celular com aplicativo aberto&#10;&#10;Descrição gerada automaticamente">
            <a:extLst>
              <a:ext uri="{FF2B5EF4-FFF2-40B4-BE49-F238E27FC236}">
                <a16:creationId xmlns:a16="http://schemas.microsoft.com/office/drawing/2014/main" id="{00B8A49C-F9DF-468C-B0D6-A5337F0664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81" y="35110989"/>
            <a:ext cx="11665296" cy="43357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Imagem 13" descr="Interface gráfica do usuário, Aplicativo&#10;&#10;Descrição gerada automaticamente com confiança média">
            <a:extLst>
              <a:ext uri="{FF2B5EF4-FFF2-40B4-BE49-F238E27FC236}">
                <a16:creationId xmlns:a16="http://schemas.microsoft.com/office/drawing/2014/main" id="{C5F54F6F-10AA-4945-9B49-3F8D4D059E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730" y="24154599"/>
            <a:ext cx="11729508" cy="3338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Imagem 20" descr="Celular com tela ligada&#10;&#10;Descrição gerada automaticamente">
            <a:extLst>
              <a:ext uri="{FF2B5EF4-FFF2-40B4-BE49-F238E27FC236}">
                <a16:creationId xmlns:a16="http://schemas.microsoft.com/office/drawing/2014/main" id="{EE82839A-716C-48FA-B258-EE775F749D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1439" y="38594950"/>
            <a:ext cx="7430254" cy="38802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Imagem 24" descr="Diagrama&#10;&#10;Descrição gerada automaticamente">
            <a:extLst>
              <a:ext uri="{FF2B5EF4-FFF2-40B4-BE49-F238E27FC236}">
                <a16:creationId xmlns:a16="http://schemas.microsoft.com/office/drawing/2014/main" id="{2E15F614-FFB5-47E4-85B0-22DFE107B1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2065" y="35190829"/>
            <a:ext cx="7539374" cy="3781579"/>
          </a:xfrm>
          <a:prstGeom prst="rect">
            <a:avLst/>
          </a:prstGeom>
        </p:spPr>
      </p:pic>
      <p:pic>
        <p:nvPicPr>
          <p:cNvPr id="27" name="Imagem 26" descr="Texto&#10;&#10;Descrição gerada automaticamente">
            <a:extLst>
              <a:ext uri="{FF2B5EF4-FFF2-40B4-BE49-F238E27FC236}">
                <a16:creationId xmlns:a16="http://schemas.microsoft.com/office/drawing/2014/main" id="{A28C4AC9-9F45-4AC0-AE29-AAE63BF732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2065" y="19082420"/>
            <a:ext cx="13848995" cy="79787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560</Words>
  <Application>Microsoft Office PowerPoint</Application>
  <PresentationFormat>Personalizar</PresentationFormat>
  <Paragraphs>82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TITULO DO TRABALHO  Hanspeter Dietiker, Gabriel Silva Magalhães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on the Beach 2011</dc:title>
  <dc:creator>Tristao</dc:creator>
  <cp:lastModifiedBy>Hanspeter Dietiker</cp:lastModifiedBy>
  <cp:revision>158</cp:revision>
  <dcterms:created xsi:type="dcterms:W3CDTF">2011-04-07T11:05:01Z</dcterms:created>
  <dcterms:modified xsi:type="dcterms:W3CDTF">2026-06-11T00:02:56Z</dcterms:modified>
</cp:coreProperties>
</file>